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1"/>
  </p:notesMasterIdLst>
  <p:handoutMasterIdLst>
    <p:handoutMasterId r:id="rId12"/>
  </p:handoutMasterIdLst>
  <p:sldIdLst>
    <p:sldId id="334" r:id="rId5"/>
    <p:sldId id="316" r:id="rId6"/>
    <p:sldId id="337" r:id="rId7"/>
    <p:sldId id="343" r:id="rId8"/>
    <p:sldId id="342" r:id="rId9"/>
    <p:sldId id="33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5FE460-66B5-42E8-AE57-580146523A0B}" v="2474" dt="2026-06-21T06:14:49.527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>
        <p:scale>
          <a:sx n="100" d="100"/>
          <a:sy n="100" d="100"/>
        </p:scale>
        <p:origin x="-48" y="-44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athmini96/waterfall-vs-agile-methodology-28001a9ca487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sana.com/resources/agile-methodology" TargetMode="External"/><Relationship Id="rId5" Type="http://schemas.openxmlformats.org/officeDocument/2006/relationships/hyperlink" Target="https://ebookcentral.proquest.com/lib/think/reader.action?docID=1895876&amp;ppg=131" TargetMode="External"/><Relationship Id="rId4" Type="http://schemas.openxmlformats.org/officeDocument/2006/relationships/hyperlink" Target="https://pngtree.com/freepng/agile-development-process-infographic_8737029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Agile Presentation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C37DE-27DA-9A10-BA73-2638E4548A66}"/>
              </a:ext>
            </a:extLst>
          </p:cNvPr>
          <p:cNvSpPr txBox="1"/>
          <p:nvPr/>
        </p:nvSpPr>
        <p:spPr>
          <a:xfrm>
            <a:off x="8195779" y="4848504"/>
            <a:ext cx="316385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Austin Smith</a:t>
            </a:r>
          </a:p>
          <a:p>
            <a:r>
              <a:rPr lang="en-US"/>
              <a:t>Professor Tad Kellogg</a:t>
            </a:r>
          </a:p>
          <a:p>
            <a:r>
              <a:rPr lang="en-US"/>
              <a:t>6/19/2026</a:t>
            </a:r>
          </a:p>
          <a:p>
            <a:r>
              <a:rPr lang="en-US"/>
              <a:t>CS-250 Software Development Life Cycle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54A9052-DDEA-9881-D0DD-94C0B933C6BB}"/>
              </a:ext>
            </a:extLst>
          </p:cNvPr>
          <p:cNvSpPr txBox="1"/>
          <p:nvPr/>
        </p:nvSpPr>
        <p:spPr>
          <a:xfrm>
            <a:off x="744479" y="1390867"/>
            <a:ext cx="3881303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Scrum Master:</a:t>
            </a:r>
          </a:p>
          <a:p>
            <a:pPr algn="ctr"/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/>
              <a:t>The leader of the Scrum team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Manages product backlog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Manages and leads team sprints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algn="ctr"/>
            <a:r>
              <a:rPr lang="en-US"/>
              <a:t>Think of the scrum master as the team lead that keeps everyone on track.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779CCF-EBC4-C5E9-A21D-006B583FC19A}"/>
              </a:ext>
            </a:extLst>
          </p:cNvPr>
          <p:cNvSpPr txBox="1"/>
          <p:nvPr/>
        </p:nvSpPr>
        <p:spPr>
          <a:xfrm>
            <a:off x="3422852" y="484224"/>
            <a:ext cx="53417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Roles of an Agile team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92F3B3-692E-77CC-51E4-F10B96067234}"/>
              </a:ext>
            </a:extLst>
          </p:cNvPr>
          <p:cNvSpPr txBox="1"/>
          <p:nvPr/>
        </p:nvSpPr>
        <p:spPr>
          <a:xfrm>
            <a:off x="4616774" y="1405127"/>
            <a:ext cx="3681357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Product </a:t>
            </a:r>
            <a:r>
              <a:rPr lang="en-US" sz="2000"/>
              <a:t>Owner:</a:t>
            </a:r>
            <a:endParaRPr lang="en-US" sz="2000" dirty="0"/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The face of the scrum team seen by the world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Gathers data from the stakeholders and the users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Works with the scrum master directly to make the best decision for the project.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algn="ctr"/>
            <a:r>
              <a:rPr lang="en-US" dirty="0"/>
              <a:t>Think of the Product owner as the face of the project, that links the scrum master and the develo</a:t>
            </a:r>
            <a:r>
              <a:rPr lang="en-US"/>
              <a:t>pment team to the users.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87F75A-E021-0801-265C-A7861C2F0542}"/>
              </a:ext>
            </a:extLst>
          </p:cNvPr>
          <p:cNvSpPr txBox="1"/>
          <p:nvPr/>
        </p:nvSpPr>
        <p:spPr>
          <a:xfrm>
            <a:off x="8294628" y="1402873"/>
            <a:ext cx="3751927" cy="5139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Developer and Tester</a:t>
            </a:r>
            <a:endParaRPr lang="en-US" sz="2000" dirty="0"/>
          </a:p>
          <a:p>
            <a:pPr algn="ctr"/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dirty="0"/>
              <a:t>Use user stories to guide development and create </a:t>
            </a:r>
            <a:r>
              <a:rPr lang="en-US" err="1"/>
              <a:t>sprin</a:t>
            </a:r>
            <a:r>
              <a:rPr lang="en-US"/>
              <a:t>t goals</a:t>
            </a:r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/>
              <a:t>Follow best coding practice and document the information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dirty="0"/>
              <a:t>Work closely with </a:t>
            </a:r>
            <a:r>
              <a:rPr lang="en-US"/>
              <a:t>each other</a:t>
            </a:r>
            <a:r>
              <a:rPr lang="en-US" dirty="0"/>
              <a:t> </a:t>
            </a:r>
            <a:r>
              <a:rPr lang="en-US"/>
              <a:t>and building off information the other has.</a:t>
            </a:r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algn="ctr"/>
            <a:r>
              <a:rPr lang="en-US" dirty="0"/>
              <a:t>The Developer and Testers go </a:t>
            </a:r>
            <a:r>
              <a:rPr lang="en-US"/>
              <a:t>hand in hand to guide the development. Think of them as the muscle of the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45B7A7B-6149-3288-5DF6-40BF1BAEEA51}"/>
              </a:ext>
            </a:extLst>
          </p:cNvPr>
          <p:cNvSpPr txBox="1"/>
          <p:nvPr/>
        </p:nvSpPr>
        <p:spPr>
          <a:xfrm>
            <a:off x="4711113" y="567805"/>
            <a:ext cx="27649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Phases of Agile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07E6B1-B646-0259-605B-80E2DEB4A994}"/>
              </a:ext>
            </a:extLst>
          </p:cNvPr>
          <p:cNvSpPr txBox="1"/>
          <p:nvPr/>
        </p:nvSpPr>
        <p:spPr>
          <a:xfrm>
            <a:off x="1733449" y="1035014"/>
            <a:ext cx="2628573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Planning &amp; </a:t>
            </a:r>
            <a:r>
              <a:rPr lang="en-US" sz="2000"/>
              <a:t>Design</a:t>
            </a:r>
            <a:endParaRPr lang="en-US" sz="2000" dirty="0"/>
          </a:p>
          <a:p>
            <a:pPr algn="ctr"/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This is the </a:t>
            </a:r>
            <a:r>
              <a:rPr lang="en-US"/>
              <a:t>starting </a:t>
            </a:r>
            <a:r>
              <a:rPr lang="en-US" dirty="0"/>
              <a:t>point for all projects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Gather information about the project, such as budget, goal, and style.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Find potential issues that will be encountered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B7433-B33B-2174-2B34-D9D1C30E6879}"/>
              </a:ext>
            </a:extLst>
          </p:cNvPr>
          <p:cNvSpPr txBox="1"/>
          <p:nvPr/>
        </p:nvSpPr>
        <p:spPr>
          <a:xfrm>
            <a:off x="4572479" y="1033761"/>
            <a:ext cx="3044733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Development &amp; </a:t>
            </a:r>
            <a:r>
              <a:rPr lang="en-US" sz="2000"/>
              <a:t>Testing</a:t>
            </a:r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/>
              <a:t>Create the code of the software and then test portions of it to ensure a desired result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dirty="0"/>
              <a:t>Correcting </a:t>
            </a:r>
            <a:r>
              <a:rPr lang="en-US"/>
              <a:t>unintended</a:t>
            </a:r>
            <a:r>
              <a:rPr lang="en-US" dirty="0"/>
              <a:t> bugs</a:t>
            </a:r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/>
              <a:t>Follow best practices</a:t>
            </a:r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E37EC-5320-61EC-0FAD-240F8C02AD38}"/>
              </a:ext>
            </a:extLst>
          </p:cNvPr>
          <p:cNvSpPr txBox="1"/>
          <p:nvPr/>
        </p:nvSpPr>
        <p:spPr>
          <a:xfrm>
            <a:off x="7950791" y="1140867"/>
            <a:ext cx="3199135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Deployment &amp; Review</a:t>
            </a:r>
          </a:p>
          <a:p>
            <a:pPr algn="ctr"/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dirty="0"/>
              <a:t>Deployment is used to get user </a:t>
            </a:r>
            <a:r>
              <a:rPr lang="en-US" dirty="0" err="1"/>
              <a:t>feed back</a:t>
            </a:r>
            <a:r>
              <a:rPr lang="en-US" dirty="0"/>
              <a:t>, after which is used to review with the users and stakeholders</a:t>
            </a:r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/>
              <a:t>Create more ideas for the next iteration.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939" r="16939"/>
          <a:stretch/>
        </p:blipFill>
        <p:spPr/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77A28E-DF0C-78F4-F3B3-C373DBE13D2C}"/>
              </a:ext>
            </a:extLst>
          </p:cNvPr>
          <p:cNvSpPr txBox="1"/>
          <p:nvPr/>
        </p:nvSpPr>
        <p:spPr>
          <a:xfrm>
            <a:off x="4354266" y="751736"/>
            <a:ext cx="349317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Waterfall Method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B0EDE-F7AA-4683-536F-E312C7D2E873}"/>
              </a:ext>
            </a:extLst>
          </p:cNvPr>
          <p:cNvSpPr txBox="1"/>
          <p:nvPr/>
        </p:nvSpPr>
        <p:spPr>
          <a:xfrm>
            <a:off x="1799513" y="1552521"/>
            <a:ext cx="2728674" cy="35166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F4832F-080F-5E0F-9AA5-DAF65F2C03E5}"/>
              </a:ext>
            </a:extLst>
          </p:cNvPr>
          <p:cNvSpPr txBox="1"/>
          <p:nvPr/>
        </p:nvSpPr>
        <p:spPr>
          <a:xfrm>
            <a:off x="4529193" y="1205678"/>
            <a:ext cx="358726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Goes over requirements one time and no </a:t>
            </a:r>
            <a:r>
              <a:rPr lang="en-US"/>
              <a:t>more.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Design is not updated to any new needs that may arise during the process.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Deployment is final, after which only come </a:t>
            </a:r>
            <a:r>
              <a:rPr lang="en-US"/>
              <a:t>maintenance</a:t>
            </a:r>
            <a:r>
              <a:rPr lang="en-US" dirty="0"/>
              <a:t> of the code.</a:t>
            </a:r>
          </a:p>
        </p:txBody>
      </p:sp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1A6127-859A-3E38-2663-05292009B1A2}"/>
              </a:ext>
            </a:extLst>
          </p:cNvPr>
          <p:cNvSpPr txBox="1"/>
          <p:nvPr/>
        </p:nvSpPr>
        <p:spPr>
          <a:xfrm>
            <a:off x="5092741" y="646884"/>
            <a:ext cx="52103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Agile VS. Waterfall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3F527-E22F-17F9-77A1-9C7A9E8A59CE}"/>
              </a:ext>
            </a:extLst>
          </p:cNvPr>
          <p:cNvSpPr txBox="1"/>
          <p:nvPr/>
        </p:nvSpPr>
        <p:spPr>
          <a:xfrm>
            <a:off x="3998919" y="1305529"/>
            <a:ext cx="3469650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Agile</a:t>
            </a:r>
          </a:p>
          <a:p>
            <a:pPr algn="ctr"/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/>
              <a:t>Is much more adaptable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dirty="0"/>
              <a:t>Best for projects that are subject to high levels of change or being </a:t>
            </a:r>
            <a:r>
              <a:rPr lang="en-US"/>
              <a:t>volatile</a:t>
            </a:r>
            <a:r>
              <a:rPr lang="en-US" dirty="0"/>
              <a:t>.</a:t>
            </a:r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/>
              <a:t>Good for complex products and big teams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FCD61F-52B4-FEDF-6DCF-4496E54F54DA}"/>
              </a:ext>
            </a:extLst>
          </p:cNvPr>
          <p:cNvSpPr txBox="1"/>
          <p:nvPr/>
        </p:nvSpPr>
        <p:spPr>
          <a:xfrm>
            <a:off x="7695041" y="1307030"/>
            <a:ext cx="3340273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Waterfall</a:t>
            </a:r>
          </a:p>
          <a:p>
            <a:pPr algn="ctr"/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/>
              <a:t>Identifies requirements from the start.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dirty="0"/>
              <a:t>Can be good for hard set </a:t>
            </a:r>
            <a:r>
              <a:rPr lang="en-US"/>
              <a:t>requirements.</a:t>
            </a:r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/>
              <a:t>Once set things rarely or ever change.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E59AB07-5EB6-1AC2-F678-D66A4E022FE7}"/>
              </a:ext>
            </a:extLst>
          </p:cNvPr>
          <p:cNvSpPr txBox="1"/>
          <p:nvPr/>
        </p:nvSpPr>
        <p:spPr>
          <a:xfrm>
            <a:off x="1268527" y="1447063"/>
            <a:ext cx="9912167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Jayathilaka, C. (2020, July 30). Waterfall vs. Agile Methodology. Medium. </a:t>
            </a:r>
          </a:p>
          <a:p>
            <a:endParaRPr lang="en-US" sz="1600" dirty="0"/>
          </a:p>
          <a:p>
            <a:r>
              <a:rPr lang="en-US" sz="1600" dirty="0">
                <a:hlinkClick r:id="rId3"/>
              </a:rPr>
              <a:t>https://medium.com/@chathmini96/waterfall-vs-agile-methodology-28001a9ca487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Agile Development Process Infographic, </a:t>
            </a:r>
            <a:r>
              <a:rPr lang="en-US" sz="1600" dirty="0" err="1">
                <a:ea typeface="+mn-lt"/>
                <a:cs typeface="+mn-lt"/>
              </a:rPr>
              <a:t>Agileanaly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Sisanaly</a:t>
            </a:r>
            <a:r>
              <a:rPr lang="en-US" sz="1600" dirty="0">
                <a:ea typeface="+mn-lt"/>
                <a:cs typeface="+mn-lt"/>
              </a:rPr>
              <a:t>, Development PNG and Vector with Transparent </a:t>
            </a:r>
            <a:r>
              <a:rPr lang="en-US" sz="1600" dirty="0"/>
              <a:t>Background for Free Download. (2021). </a:t>
            </a:r>
            <a:r>
              <a:rPr lang="en-US" sz="1600" dirty="0" err="1"/>
              <a:t>Pngtree</a:t>
            </a:r>
            <a:r>
              <a:rPr lang="en-US" sz="1600" dirty="0"/>
              <a:t>. </a:t>
            </a:r>
            <a:endParaRPr lang="en-US"/>
          </a:p>
          <a:p>
            <a:endParaRPr lang="en-US" sz="1600" dirty="0"/>
          </a:p>
          <a:p>
            <a:r>
              <a:rPr lang="en-US" sz="1600" dirty="0">
                <a:ea typeface="+mn-lt"/>
                <a:cs typeface="+mn-lt"/>
                <a:hlinkClick r:id="rId4"/>
              </a:rPr>
              <a:t>https://pngtree.com/freepng/agile-development-process-infographic_8737029.html</a:t>
            </a:r>
            <a:r>
              <a:rPr lang="en-US" sz="1600" dirty="0">
                <a:ea typeface="+mn-lt"/>
                <a:cs typeface="+mn-lt"/>
              </a:rPr>
              <a:t> </a:t>
            </a:r>
            <a:endParaRPr lang="en-US" sz="1600" dirty="0"/>
          </a:p>
          <a:p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Cobb, C. G. (2023). The project manager’s guide to mastering agile : principles and practices for an adaptive approach. 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ea typeface="+mn-lt"/>
                <a:cs typeface="+mn-lt"/>
                <a:hlinkClick r:id="rId5"/>
              </a:rPr>
              <a:t>https://ebookcentral.proquest.com/lib/think/reader.action?docID=1895876&amp;ppg=131</a:t>
            </a:r>
            <a:r>
              <a:rPr lang="en-US" sz="1600" dirty="0">
                <a:ea typeface="+mn-lt"/>
                <a:cs typeface="+mn-lt"/>
              </a:rPr>
              <a:t> </a:t>
            </a:r>
            <a:endParaRPr lang="en-US" sz="1600" dirty="0"/>
          </a:p>
          <a:p>
            <a:endParaRPr lang="en-US" sz="1600" dirty="0"/>
          </a:p>
          <a:p>
            <a:r>
              <a:rPr lang="en-US" sz="1600" err="1">
                <a:ea typeface="+mn-lt"/>
                <a:cs typeface="+mn-lt"/>
              </a:rPr>
              <a:t>Laoyan</a:t>
            </a:r>
            <a:r>
              <a:rPr lang="en-US" sz="1600">
                <a:ea typeface="+mn-lt"/>
                <a:cs typeface="+mn-lt"/>
              </a:rPr>
              <a:t>, S. (25, February 2). What is agile methodology? (A beginner’s guide). Asana. </a:t>
            </a:r>
            <a:endParaRPr lang="en-US"/>
          </a:p>
          <a:p>
            <a:endParaRPr lang="en-US"/>
          </a:p>
          <a:p>
            <a:r>
              <a:rPr lang="en-US" sz="1600" dirty="0">
                <a:ea typeface="+mn-lt"/>
                <a:cs typeface="+mn-lt"/>
                <a:hlinkClick r:id="rId6"/>
              </a:rPr>
              <a:t>https://asana.com/resources/agile-methodology</a:t>
            </a:r>
            <a:r>
              <a:rPr lang="en-US" sz="1600" dirty="0">
                <a:ea typeface="+mn-lt"/>
                <a:cs typeface="+mn-lt"/>
              </a:rPr>
              <a:t> 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94DD0C-FF98-C5E2-92C6-7771D821E3FA}"/>
              </a:ext>
            </a:extLst>
          </p:cNvPr>
          <p:cNvSpPr txBox="1"/>
          <p:nvPr/>
        </p:nvSpPr>
        <p:spPr>
          <a:xfrm>
            <a:off x="4301237" y="561842"/>
            <a:ext cx="35932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References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544979-59F0-4F8D-AA35-90255837C7E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B16729F-0CF3-48D0-9AFD-AAAEB4309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DFB26C-8E2C-4C64-B21C-909AD1AA2D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418</Words>
  <Application>Microsoft Office PowerPoint</Application>
  <PresentationFormat>Widescreen</PresentationFormat>
  <Paragraphs>122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GradientVTI</vt:lpstr>
      <vt:lpstr>Agile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263</cp:revision>
  <dcterms:created xsi:type="dcterms:W3CDTF">2026-06-20T03:55:53Z</dcterms:created>
  <dcterms:modified xsi:type="dcterms:W3CDTF">2026-06-21T06:15:11Z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